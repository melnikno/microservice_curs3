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4414E-B8B6-403E-9C9F-5D5DF205835A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598BE-12E5-42C6-831E-EAD7E39C5B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131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E29D8-1934-4AA4-BD78-826A9855BEF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416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48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05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23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90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46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60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77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57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6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020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818DF-C684-4416-8CF7-1AC5FB58944F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9FAA1-C6D2-4884-B04E-A31B66192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23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oluch.ru/archive/547/119663" TargetMode="External"/><Relationship Id="rId2" Type="http://schemas.openxmlformats.org/officeDocument/2006/relationships/hyperlink" Target="https://habr.com/ru/companies/innotech/articles/68355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san.io/ru/blog/containers-vs-virtual-machines/" TargetMode="External"/><Relationship Id="rId5" Type="http://schemas.openxmlformats.org/officeDocument/2006/relationships/hyperlink" Target="https://worksolutions.ru/blog/mikroservisy-vs-monolit-raznicza-arhitektur-i-rukovodstvo-po-perehodu/" TargetMode="External"/><Relationship Id="rId4" Type="http://schemas.openxmlformats.org/officeDocument/2006/relationships/hyperlink" Target="https://tproger.ru/articles/monolit-ili-mikroservisy--kak-vybrat-arhitekturu-dlya-novogo-proekta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letsencrypt.org/ru/how-it-works/" TargetMode="External"/><Relationship Id="rId3" Type="http://schemas.openxmlformats.org/officeDocument/2006/relationships/hyperlink" Target="https://purpleschool.ru/knowledge-base/microservices/infrastructure/mikroservis-docker" TargetMode="External"/><Relationship Id="rId7" Type="http://schemas.openxmlformats.org/officeDocument/2006/relationships/hyperlink" Target="https://mchost.ru/articles/lets-encrypt-chto-eto/" TargetMode="External"/><Relationship Id="rId2" Type="http://schemas.openxmlformats.org/officeDocument/2006/relationships/hyperlink" Target="https://appmaster.io/ru/blog/arkhitektura-mikroservisov-docker#docker-&#1080;-&#1084;&#1080;&#1082;&#1088;&#1086;&#1089;&#1077;&#1088;&#1074;&#1080;&#1089;&#1099;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companies/flant/articles/496936/" TargetMode="External"/><Relationship Id="rId5" Type="http://schemas.openxmlformats.org/officeDocument/2006/relationships/hyperlink" Target="https://invisibl.io/blog/secure-your-microservices-ingress-in-istio-with-lets-encrypt/" TargetMode="External"/><Relationship Id="rId4" Type="http://schemas.openxmlformats.org/officeDocument/2006/relationships/hyperlink" Target="https://blog.skillfactory.ru/glossary/dock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9833" y="2103087"/>
            <a:ext cx="9540240" cy="1375829"/>
          </a:xfrm>
        </p:spPr>
        <p:txBody>
          <a:bodyPr>
            <a:normAutofit fontScale="90000"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Развертывание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микросервисной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-бота и веб-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автоматизацией выпуска сертификатов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подготовки: «Информатика и вычислительная техника»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270172" y="3826057"/>
            <a:ext cx="5682342" cy="2835999"/>
          </a:xfrm>
        </p:spPr>
        <p:txBody>
          <a:bodyPr>
            <a:noAutofit/>
          </a:bodyPr>
          <a:lstStyle/>
          <a:p>
            <a:pPr algn="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преподаватель Аксютин П. А.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 работы студент</a:t>
            </a:r>
          </a:p>
          <a:p>
            <a:pPr algn="r"/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курс, группа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</a:p>
          <a:p>
            <a:pPr algn="r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Мельник Н. 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18104" y="6200392"/>
            <a:ext cx="1931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865223" y="5094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70006" y="278618"/>
            <a:ext cx="109598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 НАУКИ РОССИЙСКОЙ ФЕДЕРАЦИИ ФЕДЕРАЛЬНОЕ ГОСУДАРСТВЕННОЕ БЮДЖЕТНОЕ ОБРАЗОВАТЕЛЬНОЕ УЧРЕЖДЕНИЕ ВЫСШЕГО ПРОФЕССИОНАЛЬНОГО ОБРАЗОВАНИ «РОССИЙСКИЙ ГОСУДАРСТВЕННЫЙ ПЕДАГОГИЧЕСКИЙ УНИВЕРСИТЕТ им. А. И. ГЕРЦЕНА»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527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979713"/>
            <a:ext cx="10587446" cy="1005841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курсовой работы является развертывание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-бота и веб-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автоматизацией выпуска сертификатов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8688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адачи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и материалов 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и материалов о контейнеризации и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и материалов о сертификатах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Encrypt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развертывание с помощью применения информационных технологий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микросервисной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-бота и веб-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9" y="6356985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8012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39337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1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431" y="78772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Микросервисная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 (MSA)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способ создания программных продуктов, предполагающий разработку независимых друг от друга модулей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для каждого сервиса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Слабая связанность</a:t>
            </a:r>
          </a:p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Единственная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ответственность</a:t>
            </a:r>
          </a:p>
          <a:p>
            <a:pPr marL="0" indent="0" algn="just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монолитной архитектурой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3</a:t>
            </a:fld>
            <a:endParaRPr lang="ru-RU" sz="180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031508"/>
              </p:ext>
            </p:extLst>
          </p:nvPr>
        </p:nvGraphicFramePr>
        <p:xfrm>
          <a:off x="349431" y="3899489"/>
          <a:ext cx="8127999" cy="2656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/>
                <a:gridCol w="2709333"/>
                <a:gridCol w="2709333"/>
              </a:tblGrid>
              <a:tr h="330224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Критерий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Микросервисная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Монолитная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Структура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Независимые компоненты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Единое целое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Масштабирование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Только нужные сервисы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Всё приложение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Устойчивость к сбоям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Сбой одного сервиса ≠ отказ всех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Сбой одного модуля → отказ всей системы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Технологии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Разные для каждого сервиса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Один стек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35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93390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2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431" y="1073887"/>
            <a:ext cx="10867209" cy="5395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способ упаковки приложения и всех его зависимостей в изолированный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контейнеров от виртуальных машин: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Контейнеры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Запускаются за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секунды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Потребляют меньше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ресурсов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для сборки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образа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 Image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неизменяемый файл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образа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запущенный экземпляр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образа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Compose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многоконтейнерных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4</a:t>
            </a:fld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154679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93390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431" y="1073887"/>
            <a:ext cx="10867209" cy="5395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бесплатный центр сертификации, предоставляющий SSL/TLS-сертификаты для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получения сертификата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Подтверждение владения доменом (HTTP-01, DNS-01)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 сертификата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обновление (каждые 12 часов)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действия: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90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дней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cert-manager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acme-companion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(выбран в работе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Certbot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официальный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5</a:t>
            </a:fld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62367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93390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 – Реализация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Telegram-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бота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6</a:t>
            </a:fld>
            <a:endParaRPr lang="ru-RU" sz="1800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69" y="1097988"/>
            <a:ext cx="2016760" cy="5156200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975" y="1563914"/>
            <a:ext cx="6120130" cy="3921760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151" y="1097988"/>
            <a:ext cx="2271622" cy="44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93390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 – Реализация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7</a:t>
            </a:fld>
            <a:endParaRPr lang="ru-RU" sz="1800"/>
          </a:p>
        </p:txBody>
      </p:sp>
      <p:pic>
        <p:nvPicPr>
          <p:cNvPr id="12" name="Рисунок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35" y="1086240"/>
            <a:ext cx="4600438" cy="5226567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" b="624"/>
          <a:stretch/>
        </p:blipFill>
        <p:spPr>
          <a:xfrm>
            <a:off x="5869577" y="1805772"/>
            <a:ext cx="5632267" cy="378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0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431" y="193390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 – Развертывание на сервере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8</a:t>
            </a:fld>
            <a:endParaRPr lang="ru-RU" sz="1800"/>
          </a:p>
        </p:txBody>
      </p:sp>
      <p:pic>
        <p:nvPicPr>
          <p:cNvPr id="6" name="Рисунок 5" descr="C:\Users\melni\Downloads\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31" y="1284264"/>
            <a:ext cx="6144260" cy="235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 descr="C:\Users\melni\Downloads\3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31" y="5173242"/>
            <a:ext cx="6144260" cy="106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C:\Users\melni\Downloads\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31" y="3945334"/>
            <a:ext cx="6144260" cy="887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1008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722" y="419813"/>
            <a:ext cx="10622280" cy="785019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4 –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технологий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89868" y="6373767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9</a:t>
            </a:fld>
            <a:endParaRPr lang="ru-RU" sz="18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215422"/>
              </p:ext>
            </p:extLst>
          </p:nvPr>
        </p:nvGraphicFramePr>
        <p:xfrm>
          <a:off x="1654629" y="1637212"/>
          <a:ext cx="8827588" cy="42177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06897"/>
                <a:gridCol w="2206897"/>
                <a:gridCol w="2206897"/>
                <a:gridCol w="2206897"/>
              </a:tblGrid>
              <a:tr h="931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Выбранное решение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18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Альтернатива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Причина выбора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31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Контейнеризация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Docker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Podman, LXC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Популярность,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Compose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4234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Reverse-proxy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nginx-proxy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Traefik, Caddy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Простота, интеграция с acme-companion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31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Автоматизация HTTPS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acme-companion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Certbot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Полная автоматизация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052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74767"/>
            <a:ext cx="3472543" cy="654368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3697" y="1308748"/>
            <a:ext cx="10808368" cy="4943099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Микросервисная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 — это способ построения программных систем, при котором приложение разделяется на набор небольших, независимых и слабо связанных сервисов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сравнении с монолитной архитектурой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микросервисный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подход обеспечивает более высокую скорость релизов, широкий диапазон используемых технологий, гибкое масштабирование и устойчивость к сбоям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Контейнеризация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являются ключевыми технологиями для реализации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микросервисной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архитектуры. Контейнеризация позволяет упаковать приложение и все его зависимости в изолированный образ, который можно запустить на любой системе с поддержкой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предоставляет бесплатные SSL/TLS-сертификаты, которые используются для обеспечения защищённого HTTPS-соединения. 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реализация включала разработку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-бота с поддержкой глубоких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ссылок,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веб-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лендинга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6 информационными карточками на HTML/CSS, а также контейнеризацию и развёртывание на сервере. 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72452" y="6321515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10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9524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источников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архитектура: принципы проектирования. — Текст : электронный //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https://habr.com/ru/companies/innotech/articles/683550/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Ньюмен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С. Создание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С.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Ньюмен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2-е изд. — СПб : Питер, 2023. — 624 с. — Текст : непосредственный (дата обращения: 30.05.2026)</a:t>
            </a:r>
          </a:p>
          <a:p>
            <a:pPr lvl="0"/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принципы проектирования </a:t>
            </a:r>
            <a:r>
              <a:rPr lang="ru-RU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moluch.ru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https://moluch.ru/archive/547/119663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Перальта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Х. 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API / Х. 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Перальта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СПб : Питер, 2024. — 464 с. — Текст : непосредственный (дата обращения: 30.05.2026)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Монолит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как выбрать архитектуру для нового проекта. — Текст : электронный //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Tproger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https://tproger.ru/articles/monolit-ili-mikroservisy--kak-vybrat-arhitekturu-dlya-novogo-proekta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монолит: разница архитектур и руководство по переходу. — Текст : электронный //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https://worksolutions.ru/blog/mikroservisy-vs-monolit-raznicza-arhitektur-i-rukovodstvo-po-perehodu/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qsan.io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https://qsan.io/ru/blog/containers-vs-virtual-machines/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37617" y="6365059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11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87063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источников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740049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appmaster.io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https://appmaster.io/ru/blog/arkhitektura-mikroservisov-docker#docker-и-микросервисы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Purpleschool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https://purpleschool.ru/knowledge-base/microservices/infrastructure/mikroservis-docker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blog.skillfactory.ru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https://blog.skillfactory.ru/glossary/docker/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30.05.2026)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Your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Ingress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Let's Encrypt.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invisibl.io : [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— URL: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https://invisibl.io/blog/secure-your-microservices-ingress-in-istio-with-lets-encrypt/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обращения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30.05.2026)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сертификаты от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Let's Encrypt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cert-manager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Kubernetes.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электронный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habr.com : [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 — URL: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https://habr.com/ru/companies/flant/articles/496936/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обращения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31.05.2026)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что это?. — Текст : электронный // mchost.ru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https://mchost.ru/articles/lets-encrypt-chto-eto/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31.05.2026)</a:t>
            </a:r>
          </a:p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работает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— Текст : электронный //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[сайт]. — URL: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https://letsencrypt.org/ru/how-it-works/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(дата обращения: 31.05.2026)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37617" y="6365059"/>
            <a:ext cx="2743200" cy="365125"/>
          </a:xfrm>
        </p:spPr>
        <p:txBody>
          <a:bodyPr/>
          <a:lstStyle/>
          <a:p>
            <a:fld id="{A004547B-7CBF-4B3A-9417-590AE32828B7}" type="slidenum">
              <a:rPr lang="ru-RU" sz="1800" smtClean="0"/>
              <a:t>12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2156748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736</Words>
  <Application>Microsoft Office PowerPoint</Application>
  <PresentationFormat>Широкоэкранный</PresentationFormat>
  <Paragraphs>116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КУРСОВАЯ РАБОТА Развертывание микросервисной архитектуры Telegram-бота и веб-лендинга с использованием Docker Compose и автоматизацией выпуска сертификатов Let's Encrypt Направление подготовки: «Информатика и вычислительная техника»</vt:lpstr>
      <vt:lpstr>Целью курсовой работы является развертывание микросервисной архитектуры Telegram-бота и веб-лендинга с использованием Docker Compose и автоматизацией выпуска сертификатов Let's Encrypt.</vt:lpstr>
      <vt:lpstr>Задача 1</vt:lpstr>
      <vt:lpstr>Задача 2</vt:lpstr>
      <vt:lpstr>Задача 3</vt:lpstr>
      <vt:lpstr>Задача 4 – Реализация Telegram-бота</vt:lpstr>
      <vt:lpstr>Задача 4 – Реализация веб-лендинга</vt:lpstr>
      <vt:lpstr>Задача 4 – Развертывание на сервере</vt:lpstr>
      <vt:lpstr>Задача 4 – Сравнение технологий</vt:lpstr>
      <vt:lpstr>Заключение</vt:lpstr>
      <vt:lpstr>Список источников</vt:lpstr>
      <vt:lpstr>Список источников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Развертывание микросервисной архитектуры Telegram-бота и веб-лендинга с использованием Docker Compose и автоматизацией выпуска сертификатов Let's Encrypt Направление подготовки: «Информатика и вычислительная техника»</dc:title>
  <dc:creator>Учетная запись Майкрософт</dc:creator>
  <cp:lastModifiedBy>Учетная запись Майкрософт</cp:lastModifiedBy>
  <cp:revision>10</cp:revision>
  <dcterms:created xsi:type="dcterms:W3CDTF">2026-06-10T20:27:59Z</dcterms:created>
  <dcterms:modified xsi:type="dcterms:W3CDTF">2026-06-10T21:49:50Z</dcterms:modified>
</cp:coreProperties>
</file>